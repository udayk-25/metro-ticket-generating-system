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Metro Ticket Booking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ServiceNow-based digital ticketing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Project report • Service Catalog • Flow Designer • QR code • Notifications</a:t>
            </a:r>
          </a:p>
          <a:p>
            <a:pPr algn="ctr">
              <a:defRPr sz="1400"/>
            </a:pPr>
            <a:r>
              <a:t>Prepared 15 October 2026 | Academic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Ticket counters and disconnected booking steps can create queues and friction.</a:t>
            </a:r>
          </a:p>
          <a:p>
            <a:pPr>
              <a:spcAft>
                <a:spcPts val="1200"/>
              </a:spcAft>
              <a:defRPr sz="2000"/>
            </a:pPr>
            <a:r>
              <a:t>Passengers need a quick, accessible way to request tickets and retrieve journey details.</a:t>
            </a:r>
          </a:p>
          <a:p>
            <a:pPr>
              <a:spcAft>
                <a:spcPts val="1200"/>
              </a:spcAft>
              <a:defRPr sz="2000"/>
            </a:pPr>
            <a:r>
              <a:t>Metro operations need consistent records, automated status updates, and traceable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Guided station and journey selection through Service Catalog.</a:t>
            </a:r>
          </a:p>
          <a:p>
            <a:pPr>
              <a:spcAft>
                <a:spcPts val="1200"/>
              </a:spcAft>
              <a:defRPr sz="2000"/>
            </a:pPr>
            <a:r>
              <a:t>Server-side fare estimate using configurable rules.</a:t>
            </a:r>
          </a:p>
          <a:p>
            <a:pPr>
              <a:spcAft>
                <a:spcPts val="1200"/>
              </a:spcAft>
              <a:defRPr sz="2000"/>
            </a:pPr>
            <a:r>
              <a:t>Automated ticket record and QR payload generation.</a:t>
            </a:r>
          </a:p>
          <a:p>
            <a:pPr>
              <a:spcAft>
                <a:spcPts val="1200"/>
              </a:spcAft>
              <a:defRPr sz="2000"/>
            </a:pPr>
            <a:r>
              <a:t>Flow Designer orchestration and confirmation notifications.</a:t>
            </a:r>
          </a:p>
          <a:p>
            <a:pPr>
              <a:spcAft>
                <a:spcPts val="1200"/>
              </a:spcAft>
              <a:defRPr sz="2000"/>
            </a:pPr>
            <a:r>
              <a:t>Role-based access, auditability, and accessible 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Proposed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Passenger opens “Book a Metro Ticket”.</a:t>
            </a:r>
          </a:p>
          <a:p>
            <a:pPr>
              <a:spcAft>
                <a:spcPts val="1200"/>
              </a:spcAft>
              <a:defRPr sz="2000"/>
            </a:pPr>
            <a:r>
              <a:t>2. Selects origin, destination, travel date, passenger count.</a:t>
            </a:r>
          </a:p>
          <a:p>
            <a:pPr>
              <a:spcAft>
                <a:spcPts val="1200"/>
              </a:spcAft>
              <a:defRPr sz="2000"/>
            </a:pPr>
            <a:r>
              <a:t>3. Server validates stations and journey.</a:t>
            </a:r>
          </a:p>
          <a:p>
            <a:pPr>
              <a:spcAft>
                <a:spcPts val="1200"/>
              </a:spcAft>
              <a:defRPr sz="2000"/>
            </a:pPr>
            <a:r>
              <a:t>4. Fare is calculated and booking record is created.</a:t>
            </a:r>
          </a:p>
          <a:p>
            <a:pPr>
              <a:spcAft>
                <a:spcPts val="1200"/>
              </a:spcAft>
              <a:defRPr sz="2000"/>
            </a:pPr>
            <a:r>
              <a:t>5. Ticket ID / QR payload is generated.</a:t>
            </a:r>
          </a:p>
          <a:p>
            <a:pPr>
              <a:spcAft>
                <a:spcPts val="1200"/>
              </a:spcAft>
              <a:defRPr sz="2000"/>
            </a:pPr>
            <a:r>
              <a:t>6. Confirmation notification is 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ServiceNow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Service Catalog / Portal → Flow Designer → validation + fare logic</a:t>
            </a:r>
          </a:p>
          <a:p>
            <a:pPr>
              <a:spcAft>
                <a:spcPts val="1200"/>
              </a:spcAft>
              <a:defRPr sz="2000"/>
            </a:pPr>
            <a:r>
              <a:t>→ Booking and ticket records → QR payload / ticket view</a:t>
            </a:r>
          </a:p>
          <a:p>
            <a:pPr>
              <a:spcAft>
                <a:spcPts val="1200"/>
              </a:spcAft>
              <a:defRPr sz="2000"/>
            </a:pPr>
            <a:r>
              <a:t>→ Notification → passenger</a:t>
            </a:r>
          </a:p>
          <a:p>
            <a:pPr>
              <a:spcAft>
                <a:spcPts val="1200"/>
              </a:spcAft>
              <a:defRPr sz="2000"/>
            </a:pPr>
            <a:r>
              <a:t>Supporting data: station table, fare rules, audit history.</a:t>
            </a:r>
          </a:p>
          <a:p>
            <a:pPr>
              <a:spcAft>
                <a:spcPts val="1200"/>
              </a:spcAft>
              <a:defRPr sz="2000"/>
            </a:pPr>
            <a:r>
              <a:t>Production: secure verification endpoint for inspectors/scanners.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x_metro_station: station code, name, line, sequence, active flag.</a:t>
            </a:r>
          </a:p>
          <a:p>
            <a:pPr>
              <a:spcAft>
                <a:spcPts val="1200"/>
              </a:spcAft>
              <a:defRPr sz="2000"/>
            </a:pPr>
            <a:r>
              <a:t>x_metro_booking: requester, route, date, passengers, fare, status, ticket ID, QR payload.</a:t>
            </a:r>
          </a:p>
          <a:p>
            <a:pPr>
              <a:spcAft>
                <a:spcPts val="1200"/>
              </a:spcAft>
              <a:defRPr sz="2000"/>
            </a:pPr>
            <a:r>
              <a:t>x_metro_fare_rule: base fare, per-station fare, minimum, effective dates.</a:t>
            </a:r>
          </a:p>
          <a:p>
            <a:pPr>
              <a:spcAft>
                <a:spcPts val="1200"/>
              </a:spcAft>
              <a:defRPr sz="2000"/>
            </a:pPr>
            <a:r>
              <a:t>Use ACLs and unique ticket IDs; keep personal data out of QR payloads.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Automation with Flow Designer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Trigger: Service Catalog requested item created.</a:t>
            </a:r>
          </a:p>
          <a:p>
            <a:pPr>
              <a:spcAft>
                <a:spcPts val="1200"/>
              </a:spcAft>
              <a:defRPr sz="2000"/>
            </a:pPr>
            <a:r>
              <a:t>Read variables and validate input on the server.</a:t>
            </a:r>
          </a:p>
          <a:p>
            <a:pPr>
              <a:spcAft>
                <a:spcPts val="1200"/>
              </a:spcAft>
              <a:defRPr sz="2000"/>
            </a:pPr>
            <a:r>
              <a:t>Resolve stations and calculate fare.</a:t>
            </a:r>
          </a:p>
          <a:p>
            <a:pPr>
              <a:spcAft>
                <a:spcPts val="1200"/>
              </a:spcAft>
              <a:defRPr sz="2000"/>
            </a:pPr>
            <a:r>
              <a:t>Create booking/ticket record and QR payload.</a:t>
            </a:r>
          </a:p>
          <a:p>
            <a:pPr>
              <a:spcAft>
                <a:spcPts val="1200"/>
              </a:spcAft>
              <a:defRPr sz="2000"/>
            </a:pPr>
            <a:r>
              <a:t>Update request status and send notification.</a:t>
            </a:r>
          </a:p>
          <a:p>
            <a:pPr>
              <a:spcAft>
                <a:spcPts val="1200"/>
              </a:spcAft>
              <a:defRPr sz="2000"/>
            </a:pPr>
            <a:r>
              <a:t>On failure: log safely, route to support, prevent duplicate tickets on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Fare Logic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Intervals = absolute difference between station sequence values.</a:t>
            </a:r>
          </a:p>
          <a:p>
            <a:pPr>
              <a:spcAft>
                <a:spcPts val="1200"/>
              </a:spcAft>
              <a:defRPr sz="2000"/>
            </a:pPr>
            <a:r>
              <a:t>Fare per passenger = max(minimum, base + per-station fare × intervals).</a:t>
            </a:r>
          </a:p>
          <a:p>
            <a:pPr>
              <a:spcAft>
                <a:spcPts val="1200"/>
              </a:spcAft>
              <a:defRPr sz="2000"/>
            </a:pPr>
            <a:r>
              <a:t>Total fare = fare per passenger × passenger count.</a:t>
            </a:r>
          </a:p>
          <a:p>
            <a:pPr>
              <a:spcAft>
                <a:spcPts val="1200"/>
              </a:spcAft>
              <a:defRPr sz="2000"/>
            </a:pPr>
            <a:r>
              <a:t>Sample only: INR 10 base + INR 5 per interval.</a:t>
            </a:r>
          </a:p>
          <a:p>
            <a:pPr>
              <a:spcAft>
                <a:spcPts val="1200"/>
              </a:spcAft>
              <a:defRPr sz="2000"/>
            </a:pPr>
            <a:r>
              <a:t>Production fare rules must be approved by the metro operator.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QR Ticket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QR contains opaque ticket ID / signed verification URL, not sensitive personal data.</a:t>
            </a:r>
          </a:p>
          <a:p>
            <a:pPr>
              <a:spcAft>
                <a:spcPts val="1200"/>
              </a:spcAft>
              <a:defRPr sz="2000"/>
            </a:pPr>
            <a:r>
              <a:t>A QR image alone is not proof of ticket validity.</a:t>
            </a:r>
          </a:p>
          <a:p>
            <a:pPr>
              <a:spcAft>
                <a:spcPts val="1200"/>
              </a:spcAft>
              <a:defRPr sz="2000"/>
            </a:pPr>
            <a:r>
              <a:t>Scanner must verify ticket status, travel window, and replay/use policy server-side.</a:t>
            </a:r>
          </a:p>
          <a:p>
            <a:pPr>
              <a:spcAft>
                <a:spcPts val="1200"/>
              </a:spcAft>
              <a:defRPr sz="2000"/>
            </a:pPr>
            <a:r>
              <a:t>Demo generator included; it does not issue a real metro ticket.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Requirements &amp;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Valid request creates one unique ticket record.</a:t>
            </a:r>
          </a:p>
          <a:p>
            <a:pPr>
              <a:spcAft>
                <a:spcPts val="1200"/>
              </a:spcAft>
              <a:defRPr sz="2000"/>
            </a:pPr>
            <a:r>
              <a:t>Invalid station, same origin/destination, invalid date/count are rejected.</a:t>
            </a:r>
          </a:p>
          <a:p>
            <a:pPr>
              <a:spcAft>
                <a:spcPts val="1200"/>
              </a:spcAft>
              <a:defRPr sz="2000"/>
            </a:pPr>
            <a:r>
              <a:t>Fare is recalculated on the server.</a:t>
            </a:r>
          </a:p>
          <a:p>
            <a:pPr>
              <a:spcAft>
                <a:spcPts val="1200"/>
              </a:spcAft>
              <a:defRPr sz="2000"/>
            </a:pPr>
            <a:r>
              <a:t>Confirmation sent or failure recorded for retry.</a:t>
            </a:r>
          </a:p>
          <a:p>
            <a:pPr>
              <a:spcAft>
                <a:spcPts val="1200"/>
              </a:spcAft>
              <a:defRPr sz="2000"/>
            </a:pPr>
            <a:r>
              <a:t>Only authorized staff can access or change booking records.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Testing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Functional: valid booking, fare calculation, ticket creation, notification.</a:t>
            </a:r>
          </a:p>
          <a:p>
            <a:pPr>
              <a:spcAft>
                <a:spcPts val="1200"/>
              </a:spcAft>
              <a:defRPr sz="2000"/>
            </a:pPr>
            <a:r>
              <a:t>Negative: invalid route/date/count, inactive station, tampered fare.</a:t>
            </a:r>
          </a:p>
          <a:p>
            <a:pPr>
              <a:spcAft>
                <a:spcPts val="1200"/>
              </a:spcAft>
              <a:defRPr sz="2000"/>
            </a:pPr>
            <a:r>
              <a:t>Security: ACLs, forged/expired/cancelled/replayed ticket IDs.</a:t>
            </a:r>
          </a:p>
          <a:p>
            <a:pPr>
              <a:spcAft>
                <a:spcPts val="1200"/>
              </a:spcAft>
              <a:defRPr sz="2000"/>
            </a:pPr>
            <a:r>
              <a:t>Resilience: flow retries, duplicate triggers, notification failures.</a:t>
            </a:r>
          </a:p>
          <a:p>
            <a:pPr>
              <a:spcAft>
                <a:spcPts val="1200"/>
              </a:spcAft>
              <a:defRPr sz="2000"/>
            </a:pPr>
            <a:r>
              <a:t>Accessibility: keyboard, labels, focus order, screen reader, mobile.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Sprint 1: confirm fare rules, stations, data model, ACLs.</a:t>
            </a:r>
          </a:p>
          <a:p>
            <a:pPr>
              <a:spcAft>
                <a:spcPts val="1200"/>
              </a:spcAft>
              <a:defRPr sz="2000"/>
            </a:pPr>
            <a:r>
              <a:t>Sprint 2: catalog item and validation.</a:t>
            </a:r>
          </a:p>
          <a:p>
            <a:pPr>
              <a:spcAft>
                <a:spcPts val="1200"/>
              </a:spcAft>
              <a:defRPr sz="2000"/>
            </a:pPr>
            <a:r>
              <a:t>Sprint 3: fare logic and Flow Designer.</a:t>
            </a:r>
          </a:p>
          <a:p>
            <a:pPr>
              <a:spcAft>
                <a:spcPts val="1200"/>
              </a:spcAft>
              <a:defRPr sz="2000"/>
            </a:pPr>
            <a:r>
              <a:t>Sprint 4: notifications and QR ticket view.</a:t>
            </a:r>
          </a:p>
          <a:p>
            <a:pPr>
              <a:spcAft>
                <a:spcPts val="1200"/>
              </a:spcAft>
              <a:defRPr sz="2000"/>
            </a:pPr>
            <a:r>
              <a:t>Sprint 5: security/accessibility testing and pilot.</a:t>
            </a:r>
          </a:p>
          <a:p>
            <a:pPr>
              <a:spcAft>
                <a:spcPts val="1200"/>
              </a:spcAft>
              <a:defRPr sz="2000"/>
            </a:pPr>
            <a:r>
              <a:t>Sprint 6: operator approval and production readiness.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4D78"/>
                </a:solidFill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9848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ServiceNow provides a workflow foundation for automated ticket requests and notifications.</a:t>
            </a:r>
          </a:p>
          <a:p>
            <a:pPr>
              <a:spcAft>
                <a:spcPts val="1200"/>
              </a:spcAft>
              <a:defRPr sz="2000"/>
            </a:pPr>
            <a:r>
              <a:t>Connect approved station/fare data and a secure ticket verification service before production.</a:t>
            </a:r>
          </a:p>
          <a:p>
            <a:pPr>
              <a:spcAft>
                <a:spcPts val="1200"/>
              </a:spcAft>
              <a:defRPr sz="2000"/>
            </a:pPr>
            <a:r>
              <a:t>Upload the remaining phase folders to complete any additional templates.</a:t>
            </a:r>
          </a:p>
          <a:p>
            <a:pPr>
              <a:spcAft>
                <a:spcPts val="1200"/>
              </a:spcAft>
              <a:defRPr sz="2000"/>
            </a:pPr>
            <a:r>
              <a:t>Prototype only — no live payments or official ticket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